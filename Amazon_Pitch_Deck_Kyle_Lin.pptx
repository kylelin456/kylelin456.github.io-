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Urbanist Light"/>
      <p:regular r:id="rId12"/>
      <p:bold r:id="rId13"/>
      <p:italic r:id="rId14"/>
      <p:boldItalic r:id="rId15"/>
    </p:embeddedFont>
    <p:embeddedFont>
      <p:font typeface="Urbanist Medium"/>
      <p:regular r:id="rId16"/>
      <p:bold r:id="rId17"/>
      <p:italic r:id="rId18"/>
      <p:boldItalic r:id="rId19"/>
    </p:embeddedFont>
    <p:embeddedFont>
      <p:font typeface="Urbanist SemiBold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  <p:embeddedFont>
      <p:font typeface="Average"/>
      <p:regular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regular.fntdata"/><Relationship Id="rId22" Type="http://schemas.openxmlformats.org/officeDocument/2006/relationships/font" Target="fonts/UrbanistSemiBold-italic.fntdata"/><Relationship Id="rId21" Type="http://schemas.openxmlformats.org/officeDocument/2006/relationships/font" Target="fonts/UrbanistSemiBold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8" Type="http://schemas.openxmlformats.org/officeDocument/2006/relationships/font" Target="fonts/Average-regular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swa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swa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UrbanistLight-bold.fntdata"/><Relationship Id="rId12" Type="http://schemas.openxmlformats.org/officeDocument/2006/relationships/font" Target="fonts/UrbanistLight-regular.fntdata"/><Relationship Id="rId15" Type="http://schemas.openxmlformats.org/officeDocument/2006/relationships/font" Target="fonts/UrbanistLight-boldItalic.fntdata"/><Relationship Id="rId14" Type="http://schemas.openxmlformats.org/officeDocument/2006/relationships/font" Target="fonts/UrbanistLight-italic.fntdata"/><Relationship Id="rId17" Type="http://schemas.openxmlformats.org/officeDocument/2006/relationships/font" Target="fonts/UrbanistMedium-bold.fntdata"/><Relationship Id="rId16" Type="http://schemas.openxmlformats.org/officeDocument/2006/relationships/font" Target="fonts/UrbanistMedium-regular.fntdata"/><Relationship Id="rId19" Type="http://schemas.openxmlformats.org/officeDocument/2006/relationships/font" Target="fonts/UrbanistMedium-boldItalic.fntdata"/><Relationship Id="rId18" Type="http://schemas.openxmlformats.org/officeDocument/2006/relationships/font" Target="fonts/Urbanist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f0a1b6db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ef0a1b6db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f0a1b6db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ef0a1b6d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" name="Google Shape;66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9" name="Google Shape;69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" name="Google Shape;71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2" name="Google Shape;82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" name="Google Shape;89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91" name="Google Shape;91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6" name="Google Shape;10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8" name="Google Shape;108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8" name="Google Shape;118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1" name="Google Shape;121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3" name="Google Shape;123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4" name="Google Shape;124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8" name="Google Shape;148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2" name="Google Shape;152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" name="Google Shape;153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5" name="Google Shape;155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6" name="Google Shape;156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8" name="Google Shape;158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9" name="Google Shape;159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1" name="Google Shape;161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2" name="Google Shape;162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4" name="Google Shape;164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5" name="Google Shape;165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6" name="Google Shape;166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7" name="Google Shape;167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9" name="Google Shape;169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5" name="Google Shape;175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9" name="Google Shape;179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5" name="Google Shape;185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6" name="Google Shape;186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7" name="Google Shape;187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8" name="Google Shape;188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9" name="Google Shape;189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1" name="Google Shape;191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2" name="Google Shape;192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4" name="Google Shape;194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5" name="Google Shape;195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8" name="Google Shape;198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9" name="Google Shape;199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2" name="Google Shape;202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03" name="Google Shape;203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6" name="Google Shape;206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7" name="Google Shape;207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11" name="Google Shape;211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4" name="Google Shape;214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5" name="Google Shape;215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6" name="Google Shape;216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7" name="Google Shape;217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24" name="Google Shape;224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5" name="Google Shape;225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30" name="Google Shape;230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2" name="Google Shape;242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7" name="Google Shape;247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8" name="Google Shape;248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0" name="Google Shape;250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7" name="Google Shape;257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8" name="Google Shape;268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0" name="Google Shape;270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9" name="Google Shape;289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1" name="Google Shape;291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2" name="Google Shape;292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6" name="Google Shape;296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0" name="Google Shape;300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302" name="Google Shape;302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1" name="Google Shape;311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12" name="Google Shape;312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7" name="Google Shape;317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9" name="Google Shape;319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1" name="Google Shape;321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22" name="Google Shape;322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6" name="Google Shape;326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7" name="Google Shape;327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8" name="Google Shape;328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9" name="Google Shape;329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3" name="Google Shape;333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4" name="Google Shape;334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5" name="Google Shape;335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6" name="Google Shape;336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1" name="Google Shape;341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3" name="Google Shape;343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4" name="Google Shape;344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5" name="Google Shape;345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8" name="Google Shape;348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0" name="Google Shape;350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4" name="Google Shape;354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9" name="Google Shape;359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60" name="Google Shape;360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61" name="Google Shape;361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62" name="Google Shape;362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63" name="Google Shape;363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64" name="Google Shape;364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8" name="Google Shape;368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9" name="Google Shape;369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70" name="Google Shape;370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73" name="Google Shape;373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5" name="Google Shape;375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8" name="Google Shape;378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9" name="Google Shape;379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0" name="Google Shape;380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1" name="Google Shape;381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2" name="Google Shape;382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5" name="Google Shape;385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0" name="Google Shape;3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9" name="Google Shape;399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4" name="Google Shape;404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5" name="Google Shape;405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0" name="Google Shape;410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4" name="Google Shape;414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9" name="Google Shape;419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2" name="Google Shape;422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6" name="Google Shape;426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2" name="Google Shape;432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3" name="Google Shape;433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7" name="Google Shape;437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1" name="Google Shape;441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3" name="Google Shape;443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4" name="Google Shape;444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7" name="Google Shape;447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0" name="Google Shape;450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7" name="Google Shape;457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8" name="Google Shape;458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4" name="Google Shape;464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7" name="Google Shape;467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8" name="Google Shape;468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9" name="Google Shape;469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0" name="Google Shape;480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3"/>
          <p:cNvSpPr txBox="1"/>
          <p:nvPr>
            <p:ph type="title"/>
          </p:nvPr>
        </p:nvSpPr>
        <p:spPr>
          <a:xfrm>
            <a:off x="228600" y="228600"/>
            <a:ext cx="89154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9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The Lack of Career Advancement is Driving FC Associate Attrition | Kyle Lin |</a:t>
            </a:r>
            <a:endParaRPr sz="39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8" name="Google Shape;488;p53"/>
          <p:cNvSpPr txBox="1"/>
          <p:nvPr>
            <p:ph idx="1" type="subTitle"/>
          </p:nvPr>
        </p:nvSpPr>
        <p:spPr>
          <a:xfrm>
            <a:off x="222300" y="164760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Amazon Facility Centers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89" name="Google Shape;489;p5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grpSp>
        <p:nvGrpSpPr>
          <p:cNvPr id="490" name="Google Shape;490;p53"/>
          <p:cNvGrpSpPr/>
          <p:nvPr/>
        </p:nvGrpSpPr>
        <p:grpSpPr>
          <a:xfrm>
            <a:off x="228600" y="2082300"/>
            <a:ext cx="6983138" cy="2638490"/>
            <a:chOff x="6782375" y="1304876"/>
            <a:chExt cx="2061930" cy="3416405"/>
          </a:xfrm>
        </p:grpSpPr>
        <p:sp>
          <p:nvSpPr>
            <p:cNvPr id="491" name="Google Shape;491;p53"/>
            <p:cNvSpPr/>
            <p:nvPr/>
          </p:nvSpPr>
          <p:spPr>
            <a:xfrm>
              <a:off x="6782404" y="1304881"/>
              <a:ext cx="2061900" cy="3416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Across the Amazon facility center roles, full time associates, stowers, and contract packers experience the same </a:t>
              </a: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fraction</a:t>
              </a: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of </a:t>
              </a: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repeatedly</a:t>
              </a: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having no visible path the the next level. This </a:t>
              </a: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voluntarily</a:t>
              </a: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leads to the fueling of turnovers at a global scale, and Amazon is absorbing all those cycles through costs. I </a:t>
              </a: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recommend</a:t>
              </a: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a structured system through a FC Career Pathway program. It would be piloted within one team to understand it’s effectiveness.</a:t>
              </a:r>
              <a:endParaRPr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492" name="Google Shape;492;p53"/>
            <p:cNvSpPr txBox="1"/>
            <p:nvPr/>
          </p:nvSpPr>
          <p:spPr>
            <a:xfrm>
              <a:off x="6782375" y="1304876"/>
              <a:ext cx="2061900" cy="5508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Executive Summary</a:t>
              </a:r>
              <a:endParaRPr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5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498" name="Google Shape;498;p5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5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" name="Google Shape;500;p5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Attrition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1" name="Google Shape;501;p54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5000"/>
              <a:t>41%</a:t>
            </a:r>
            <a:endParaRPr sz="50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of FC associates name no upward mobility as the reason for their leave </a:t>
            </a:r>
            <a:endParaRPr sz="1600"/>
          </a:p>
        </p:txBody>
      </p:sp>
      <p:grpSp>
        <p:nvGrpSpPr>
          <p:cNvPr id="502" name="Google Shape;502;p5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503" name="Google Shape;503;p5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5" name="Google Shape;505;p5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Costs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506" name="Google Shape;506;p5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507" name="Google Shape;507;p5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5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5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Clarity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0" name="Google Shape;510;p54"/>
          <p:cNvSpPr txBox="1"/>
          <p:nvPr>
            <p:ph idx="4294967295" type="body"/>
          </p:nvPr>
        </p:nvSpPr>
        <p:spPr>
          <a:xfrm>
            <a:off x="3397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5000"/>
              <a:t>6.2x</a:t>
            </a:r>
            <a:endParaRPr sz="50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Higher replacement costs for Associate roles with no advancement</a:t>
            </a:r>
            <a:endParaRPr sz="1600"/>
          </a:p>
        </p:txBody>
      </p:sp>
      <p:sp>
        <p:nvSpPr>
          <p:cNvPr id="511" name="Google Shape;511;p54"/>
          <p:cNvSpPr txBox="1"/>
          <p:nvPr>
            <p:ph idx="4294967295" type="body"/>
          </p:nvPr>
        </p:nvSpPr>
        <p:spPr>
          <a:xfrm>
            <a:off x="62864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5000"/>
              <a:t>72%</a:t>
            </a:r>
            <a:endParaRPr sz="50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o</a:t>
            </a:r>
            <a:r>
              <a:rPr lang="en" sz="1600"/>
              <a:t>f FC Area Managers surveyed cannot describe a formal promotion process </a:t>
            </a:r>
            <a:endParaRPr sz="1600"/>
          </a:p>
        </p:txBody>
      </p:sp>
      <p:sp>
        <p:nvSpPr>
          <p:cNvPr id="512" name="Google Shape;512;p54"/>
          <p:cNvSpPr/>
          <p:nvPr/>
        </p:nvSpPr>
        <p:spPr>
          <a:xfrm>
            <a:off x="-300" y="-25"/>
            <a:ext cx="9144000" cy="1114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Amazon Fc’s high output associates walk away because they see no advancement movement within the company </a:t>
            </a:r>
            <a:endParaRPr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	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5"/>
          <p:cNvSpPr/>
          <p:nvPr/>
        </p:nvSpPr>
        <p:spPr>
          <a:xfrm>
            <a:off x="-300" y="-25"/>
            <a:ext cx="9144000" cy="799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FC Associates are in the highest priority segment - Has the 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greeting</a:t>
            </a: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volume, highest replacement costs, and has the most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actionable fix.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18" name="Google Shape;518;p55"/>
          <p:cNvSpPr/>
          <p:nvPr/>
        </p:nvSpPr>
        <p:spPr>
          <a:xfrm>
            <a:off x="228700" y="1210225"/>
            <a:ext cx="4170300" cy="3491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Role</a:t>
            </a:r>
            <a:r>
              <a:rPr lang="en" sz="20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20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Urbanist"/>
              <a:buChar char="-"/>
            </a:pPr>
            <a:r>
              <a:rPr lang="en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pick, stow, packing, </a:t>
            </a:r>
            <a:r>
              <a:rPr lang="en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receiving</a:t>
            </a:r>
            <a:r>
              <a:rPr lang="en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sorting All core FC functions 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Term</a:t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Urbanist"/>
              <a:buChar char="-"/>
            </a:pPr>
            <a:r>
              <a:rPr lang="en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average - 1.5-3 yrs at the same Tier level 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Schedule</a:t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Urbanist"/>
              <a:buChar char="-"/>
            </a:pPr>
            <a:r>
              <a:rPr lang="en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rotational shifts (Day and Night shifts) Holidays 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Difficulties</a:t>
            </a:r>
            <a:r>
              <a:rPr lang="en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Urbanist"/>
              <a:buChar char="-"/>
            </a:pPr>
            <a:r>
              <a:rPr lang="en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Long walking distances, productivity targets, no signals for advancement 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Triggers</a:t>
            </a:r>
            <a:r>
              <a:rPr lang="en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Urbanist"/>
              <a:buChar char="-"/>
            </a:pPr>
            <a:r>
              <a:rPr lang="en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Peers leave; no explanation of upward mobility </a:t>
            </a:r>
            <a:endParaRPr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9" name="Google Shape;519;p55"/>
          <p:cNvSpPr txBox="1"/>
          <p:nvPr>
            <p:ph type="title"/>
          </p:nvPr>
        </p:nvSpPr>
        <p:spPr>
          <a:xfrm>
            <a:off x="92500" y="814550"/>
            <a:ext cx="4442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 FC Associates </a:t>
            </a:r>
            <a:endParaRPr sz="2500"/>
          </a:p>
        </p:txBody>
      </p:sp>
      <p:sp>
        <p:nvSpPr>
          <p:cNvPr id="520" name="Google Shape;520;p55"/>
          <p:cNvSpPr txBox="1"/>
          <p:nvPr>
            <p:ph idx="2" type="body"/>
          </p:nvPr>
        </p:nvSpPr>
        <p:spPr>
          <a:xfrm>
            <a:off x="4725675" y="908350"/>
            <a:ext cx="4327500" cy="1243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Business Relevance 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Fc associates directly cost Amazon an estimated 1.5-2x annual wage per role in onboarding, overtime and lost units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5"/>
          <p:cNvSpPr txBox="1"/>
          <p:nvPr>
            <p:ph idx="2" type="body"/>
          </p:nvPr>
        </p:nvSpPr>
        <p:spPr>
          <a:xfrm>
            <a:off x="4725675" y="3612500"/>
            <a:ext cx="4327500" cy="1401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Team-visible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500"/>
              <a:t> </a:t>
            </a:r>
            <a:r>
              <a:rPr lang="en" sz="1500"/>
              <a:t>Friction is able to be observed by Area  Managers, and highly productive workers leaving  without offers is </a:t>
            </a:r>
            <a:r>
              <a:rPr lang="en" sz="1500"/>
              <a:t>measurable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5"/>
          <p:cNvSpPr txBox="1"/>
          <p:nvPr>
            <p:ph idx="2" type="body"/>
          </p:nvPr>
        </p:nvSpPr>
        <p:spPr>
          <a:xfrm>
            <a:off x="4725675" y="2260425"/>
            <a:ext cx="4327500" cy="1243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Actionable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500"/>
              <a:t>A upward mobility process ladder with check-ins can be designed and piloted within a single facility center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56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528" name="Google Shape;528;p5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5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56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Visibility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1" name="Google Shape;531;p56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Post a role progression map in all the zones. 3-5 milestones per FC role that will be updated quarterly. 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Why: Associates can’t aim for mobility </a:t>
            </a:r>
            <a:r>
              <a:rPr lang="en" sz="1700"/>
              <a:t>which</a:t>
            </a:r>
            <a:r>
              <a:rPr lang="en" sz="1700"/>
              <a:t> they cant see. </a:t>
            </a:r>
            <a:endParaRPr sz="1700"/>
          </a:p>
        </p:txBody>
      </p:sp>
      <p:grpSp>
        <p:nvGrpSpPr>
          <p:cNvPr id="532" name="Google Shape;532;p56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533" name="Google Shape;533;p56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56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5" name="Google Shape;535;p56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Progression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6" name="Google Shape;536;p56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Formalize the Associate -&gt; Process Guide -&gt; Area Manager Path. Area Managers hold 30 minute quarterly development check ins for the associates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Why: Informal mobility exists, but it’s invisible and </a:t>
            </a:r>
            <a:r>
              <a:rPr lang="en" sz="1600"/>
              <a:t>inconsistent</a:t>
            </a:r>
            <a:r>
              <a:rPr lang="en" sz="1600"/>
              <a:t> between FC’s </a:t>
            </a:r>
            <a:endParaRPr sz="1600"/>
          </a:p>
        </p:txBody>
      </p:sp>
      <p:grpSp>
        <p:nvGrpSpPr>
          <p:cNvPr id="537" name="Google Shape;537;p56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538" name="Google Shape;538;p56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56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0" name="Google Shape;540;p56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Recognition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1" name="Google Shape;541;p56"/>
          <p:cNvSpPr txBox="1"/>
          <p:nvPr>
            <p:ph idx="4294967295" type="body"/>
          </p:nvPr>
        </p:nvSpPr>
        <p:spPr>
          <a:xfrm>
            <a:off x="6212550" y="1766275"/>
            <a:ext cx="2632500" cy="22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Milestone completion triggers a badge, rate-target relief week, and pay- range review eligibility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Why: Associates have control over the effort reward gaps. This closes the program with something tangible </a:t>
            </a:r>
            <a:endParaRPr sz="1600"/>
          </a:p>
        </p:txBody>
      </p:sp>
      <p:sp>
        <p:nvSpPr>
          <p:cNvPr id="542" name="Google Shape;542;p56"/>
          <p:cNvSpPr/>
          <p:nvPr/>
        </p:nvSpPr>
        <p:spPr>
          <a:xfrm>
            <a:off x="-300" y="-25"/>
            <a:ext cx="9144000" cy="1114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	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	An FC Career Pathway Program – three layers, team level, and </a:t>
            </a: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visible (gives associates a destination for upward mobility and   Amazon retention lever) 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43" name="Google Shape;543;p56"/>
          <p:cNvSpPr/>
          <p:nvPr/>
        </p:nvSpPr>
        <p:spPr>
          <a:xfrm>
            <a:off x="2520625" y="1304875"/>
            <a:ext cx="480300" cy="46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1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44" name="Google Shape;544;p56"/>
          <p:cNvSpPr/>
          <p:nvPr/>
        </p:nvSpPr>
        <p:spPr>
          <a:xfrm>
            <a:off x="5472650" y="1304875"/>
            <a:ext cx="480300" cy="46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2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45" name="Google Shape;545;p56"/>
          <p:cNvSpPr/>
          <p:nvPr/>
        </p:nvSpPr>
        <p:spPr>
          <a:xfrm>
            <a:off x="8364750" y="1304875"/>
            <a:ext cx="480300" cy="46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3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7"/>
          <p:cNvSpPr txBox="1"/>
          <p:nvPr>
            <p:ph idx="4294967295" type="body"/>
          </p:nvPr>
        </p:nvSpPr>
        <p:spPr>
          <a:xfrm>
            <a:off x="539675" y="1147736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1" name="Google Shape;551;p57"/>
          <p:cNvSpPr txBox="1"/>
          <p:nvPr>
            <p:ph idx="4294967295" type="body"/>
          </p:nvPr>
        </p:nvSpPr>
        <p:spPr>
          <a:xfrm>
            <a:off x="539675" y="2894386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2" name="Google Shape;552;p57"/>
          <p:cNvSpPr/>
          <p:nvPr/>
        </p:nvSpPr>
        <p:spPr>
          <a:xfrm>
            <a:off x="-300" y="-25"/>
            <a:ext cx="9144000" cy="1114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	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90-day pilot at one FC site, one group of associates, one manager - structured to produce go / no go decision by the end of Q3 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553" name="Google Shape;553;p57"/>
          <p:cNvCxnSpPr/>
          <p:nvPr/>
        </p:nvCxnSpPr>
        <p:spPr>
          <a:xfrm>
            <a:off x="614725" y="1556011"/>
            <a:ext cx="7972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" name="Google Shape;554;p57"/>
          <p:cNvSpPr/>
          <p:nvPr/>
        </p:nvSpPr>
        <p:spPr>
          <a:xfrm>
            <a:off x="3154275" y="1325311"/>
            <a:ext cx="480300" cy="461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grpSp>
        <p:nvGrpSpPr>
          <p:cNvPr id="555" name="Google Shape;555;p57"/>
          <p:cNvGrpSpPr/>
          <p:nvPr/>
        </p:nvGrpSpPr>
        <p:grpSpPr>
          <a:xfrm>
            <a:off x="431906" y="1946930"/>
            <a:ext cx="1815536" cy="1794635"/>
            <a:chOff x="431925" y="1304875"/>
            <a:chExt cx="2628925" cy="3416400"/>
          </a:xfrm>
        </p:grpSpPr>
        <p:sp>
          <p:nvSpPr>
            <p:cNvPr id="556" name="Google Shape;556;p57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57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Weeks 1 - 2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Oswald"/>
                  <a:ea typeface="Oswald"/>
                  <a:cs typeface="Oswald"/>
                  <a:sym typeface="Oswald"/>
                </a:rPr>
                <a:t>Design &amp; align </a:t>
              </a:r>
              <a:endParaRPr sz="1700"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Oswald"/>
                  <a:ea typeface="Oswald"/>
                  <a:cs typeface="Oswald"/>
                  <a:sym typeface="Oswald"/>
                </a:rPr>
                <a:t>Mapping skill milestones with 3 Area Managers. Agree on pathway </a:t>
              </a:r>
              <a:r>
                <a:rPr lang="en" sz="1300">
                  <a:latin typeface="Oswald"/>
                  <a:ea typeface="Oswald"/>
                  <a:cs typeface="Oswald"/>
                  <a:sym typeface="Oswald"/>
                </a:rPr>
                <a:t>template with HR </a:t>
              </a:r>
              <a:endParaRPr sz="1300"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558" name="Google Shape;558;p57"/>
          <p:cNvGrpSpPr/>
          <p:nvPr/>
        </p:nvGrpSpPr>
        <p:grpSpPr>
          <a:xfrm>
            <a:off x="2467464" y="1946930"/>
            <a:ext cx="1815536" cy="1794635"/>
            <a:chOff x="431925" y="1304875"/>
            <a:chExt cx="2628925" cy="3416400"/>
          </a:xfrm>
        </p:grpSpPr>
        <p:sp>
          <p:nvSpPr>
            <p:cNvPr id="559" name="Google Shape;559;p57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57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Weeks 3-4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Oswald"/>
                  <a:ea typeface="Oswald"/>
                  <a:cs typeface="Oswald"/>
                  <a:sym typeface="Oswald"/>
                </a:rPr>
                <a:t>Launch</a:t>
              </a:r>
              <a:r>
                <a:rPr lang="en"/>
                <a:t>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Oswald"/>
                  <a:ea typeface="Oswald"/>
                  <a:cs typeface="Oswald"/>
                  <a:sym typeface="Oswald"/>
                </a:rPr>
                <a:t>Roll out to one shift cell (~ 30 Associates) Area Managers trained on check-ins </a:t>
              </a:r>
              <a:endParaRPr sz="1300"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561" name="Google Shape;561;p57"/>
          <p:cNvGrpSpPr/>
          <p:nvPr/>
        </p:nvGrpSpPr>
        <p:grpSpPr>
          <a:xfrm>
            <a:off x="6844776" y="1946899"/>
            <a:ext cx="1815542" cy="1794635"/>
            <a:chOff x="431925" y="1304817"/>
            <a:chExt cx="2628934" cy="3416400"/>
          </a:xfrm>
        </p:grpSpPr>
        <p:sp>
          <p:nvSpPr>
            <p:cNvPr id="562" name="Google Shape;562;p57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57"/>
            <p:cNvSpPr/>
            <p:nvPr/>
          </p:nvSpPr>
          <p:spPr>
            <a:xfrm>
              <a:off x="431959" y="1304817"/>
              <a:ext cx="2628900" cy="34164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Weeks 11-12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Oswald"/>
                  <a:ea typeface="Oswald"/>
                  <a:cs typeface="Oswald"/>
                  <a:sym typeface="Oswald"/>
                </a:rPr>
                <a:t>Evaluation</a:t>
              </a:r>
              <a:endParaRPr sz="1700"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Oswald"/>
                  <a:ea typeface="Oswald"/>
                  <a:cs typeface="Oswald"/>
                  <a:sym typeface="Oswald"/>
                </a:rPr>
                <a:t>Compare engagement and intent to stay against the shift cell. Present go/no go to Operation Director </a:t>
              </a:r>
              <a:endParaRPr sz="1300"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564" name="Google Shape;564;p57"/>
          <p:cNvSpPr txBox="1"/>
          <p:nvPr>
            <p:ph idx="4294967295" type="body"/>
          </p:nvPr>
        </p:nvSpPr>
        <p:spPr>
          <a:xfrm>
            <a:off x="376975" y="4036450"/>
            <a:ext cx="2422500" cy="799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</a:t>
            </a:r>
            <a:r>
              <a:rPr lang="en" sz="1100"/>
              <a:t>Pilot Owner</a:t>
            </a:r>
            <a:r>
              <a:rPr lang="en" sz="1100"/>
              <a:t> 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FC People Partners + Operations </a:t>
            </a:r>
            <a:r>
              <a:rPr lang="en" sz="900"/>
              <a:t>Director</a:t>
            </a:r>
            <a:r>
              <a:rPr lang="en" sz="900"/>
              <a:t> sponsor, One Area Manager </a:t>
            </a:r>
            <a:endParaRPr sz="1200"/>
          </a:p>
        </p:txBody>
      </p:sp>
      <p:sp>
        <p:nvSpPr>
          <p:cNvPr id="565" name="Google Shape;565;p57"/>
          <p:cNvSpPr txBox="1"/>
          <p:nvPr>
            <p:ph idx="4294967295" type="body"/>
          </p:nvPr>
        </p:nvSpPr>
        <p:spPr>
          <a:xfrm>
            <a:off x="3028288" y="4036450"/>
            <a:ext cx="2780100" cy="799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</a:t>
            </a:r>
            <a:r>
              <a:rPr lang="en" sz="1100"/>
              <a:t>Success Metric 1 </a:t>
            </a:r>
            <a:r>
              <a:rPr lang="en" sz="1100"/>
              <a:t> 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&gt; 15 point increase in “sense of </a:t>
            </a:r>
            <a:r>
              <a:rPr lang="en" sz="900"/>
              <a:t>progression</a:t>
            </a:r>
            <a:r>
              <a:rPr lang="en" sz="900"/>
              <a:t>” on site survey against the shift cell</a:t>
            </a:r>
            <a:endParaRPr sz="1200"/>
          </a:p>
        </p:txBody>
      </p:sp>
      <p:sp>
        <p:nvSpPr>
          <p:cNvPr id="566" name="Google Shape;566;p57"/>
          <p:cNvSpPr txBox="1"/>
          <p:nvPr>
            <p:ph idx="4294967295" type="body"/>
          </p:nvPr>
        </p:nvSpPr>
        <p:spPr>
          <a:xfrm>
            <a:off x="6037200" y="4036450"/>
            <a:ext cx="2780100" cy="799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Success Metric 2 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Voluntary</a:t>
            </a:r>
            <a:r>
              <a:rPr lang="en" sz="900"/>
              <a:t> attrition in pilot cell &lt; 50% of site average at Week 1 2</a:t>
            </a:r>
            <a:endParaRPr sz="1200"/>
          </a:p>
        </p:txBody>
      </p:sp>
      <p:grpSp>
        <p:nvGrpSpPr>
          <p:cNvPr id="567" name="Google Shape;567;p57"/>
          <p:cNvGrpSpPr/>
          <p:nvPr/>
        </p:nvGrpSpPr>
        <p:grpSpPr>
          <a:xfrm>
            <a:off x="4656114" y="1956535"/>
            <a:ext cx="1815536" cy="1794635"/>
            <a:chOff x="431925" y="1304875"/>
            <a:chExt cx="2628925" cy="3416400"/>
          </a:xfrm>
        </p:grpSpPr>
        <p:sp>
          <p:nvSpPr>
            <p:cNvPr id="568" name="Google Shape;568;p57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57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Weeks 5-10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Oswald"/>
                  <a:ea typeface="Oswald"/>
                  <a:cs typeface="Oswald"/>
                  <a:sym typeface="Oswald"/>
                </a:rPr>
                <a:t>Embed</a:t>
              </a:r>
              <a:r>
                <a:rPr lang="en" sz="1700"/>
                <a:t> </a:t>
              </a:r>
              <a:endParaRPr sz="17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Oswald"/>
                  <a:ea typeface="Oswald"/>
                  <a:cs typeface="Oswald"/>
                  <a:sym typeface="Oswald"/>
                </a:rPr>
                <a:t>Quarterly check-ins live. Progression board </a:t>
              </a:r>
              <a:r>
                <a:rPr lang="en" sz="1300">
                  <a:latin typeface="Oswald"/>
                  <a:ea typeface="Oswald"/>
                  <a:cs typeface="Oswald"/>
                  <a:sym typeface="Oswald"/>
                </a:rPr>
                <a:t>visible in zone. Weekly pulse survey active </a:t>
              </a:r>
              <a:endParaRPr sz="1300"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570" name="Google Shape;570;p57"/>
          <p:cNvSpPr/>
          <p:nvPr/>
        </p:nvSpPr>
        <p:spPr>
          <a:xfrm>
            <a:off x="1168875" y="1299861"/>
            <a:ext cx="480300" cy="461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71" name="Google Shape;571;p57"/>
          <p:cNvSpPr/>
          <p:nvPr/>
        </p:nvSpPr>
        <p:spPr>
          <a:xfrm>
            <a:off x="5323738" y="1304661"/>
            <a:ext cx="480300" cy="461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72" name="Google Shape;572;p57"/>
          <p:cNvSpPr/>
          <p:nvPr/>
        </p:nvSpPr>
        <p:spPr>
          <a:xfrm>
            <a:off x="7512388" y="1299836"/>
            <a:ext cx="480300" cy="461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